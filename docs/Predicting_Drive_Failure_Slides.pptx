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D7D6F"/>
                </a:solidFill>
              </a:rPr>
              <a:t>Predicting Drive Failure</a:t>
            </a:r>
          </a:p>
          <a:p>
            <a:pPr algn="ctr"/>
            <a:r>
              <a:rPr sz="2000">
                <a:solidFill>
                  <a:srgbClr val="555F5C"/>
                </a:solidFill>
              </a:rPr>
              <a:t>A Predictive-Maintenance System Built on Real Backblaze Drive Stats</a:t>
            </a:r>
          </a:p>
          <a:p>
            <a:pPr algn="ctr"/>
            <a:r>
              <a:rPr sz="1400">
                <a:solidFill>
                  <a:srgbClr val="16211F"/>
                </a:solidFill>
              </a:rPr>
              <a:t>
IT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55F5C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D7D6F"/>
                </a:solidFill>
              </a:rPr>
              <a:t>Unplanned Drive Failure Is an Operational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211F"/>
                </a:solidFill>
              </a:rPr>
              <a:t>▪  Reactive maintenance (replace only after failure) risks data loss and unplanned downtime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211F"/>
                </a:solidFill>
              </a:rPr>
              <a:t>▪  Blanket proactive replacement wastes budget on drives that would have run fine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211F"/>
                </a:solidFill>
              </a:rPr>
              <a:t>▪  The real industrial answer: predict early, estimate remaining useful life, and pick a threshold suited to your own cost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5C"/>
                </a:solidFill>
              </a:rPr>
              <a:t>Predicting Drive Failure — IT Capstone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55F5C"/>
                </a:solidFill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D7D6F"/>
                </a:solidFill>
              </a:rPr>
              <a:t>Not Just Another "Predict Drive Failure"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211F"/>
                </a:solidFill>
              </a:rPr>
              <a:t>▪  Early-warning labeling, not same-day diagnosis</a:t>
            </a:r>
          </a:p>
          <a:p>
            <a:pPr>
              <a:spcAft>
                <a:spcPts val="1400"/>
              </a:spcAft>
            </a:pPr>
            <a:r>
              <a:rPr sz="1300" i="1">
                <a:solidFill>
                  <a:srgbClr val="555F5C"/>
                </a:solidFill>
              </a:rPr>
              <a:t>     Same-day features already look like a failure — trivial and non-predictive; excluded from training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211F"/>
                </a:solidFill>
              </a:rPr>
              <a:t>▪  Remaining useful life, not just yes/no</a:t>
            </a:r>
          </a:p>
          <a:p>
            <a:pPr>
              <a:spcAft>
                <a:spcPts val="1400"/>
              </a:spcAft>
            </a:pPr>
            <a:r>
              <a:rPr sz="1300" i="1">
                <a:solidFill>
                  <a:srgbClr val="555F5C"/>
                </a:solidFill>
              </a:rPr>
              <a:t>     A Cox Proportional Hazards survival model, the standard real-world framing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211F"/>
                </a:solidFill>
              </a:rPr>
              <a:t>▪  Per-prediction explainability</a:t>
            </a:r>
          </a:p>
          <a:p>
            <a:pPr>
              <a:spcAft>
                <a:spcPts val="1400"/>
              </a:spcAft>
            </a:pPr>
            <a:r>
              <a:rPr sz="1300" i="1">
                <a:solidFill>
                  <a:srgbClr val="555F5C"/>
                </a:solidFill>
              </a:rPr>
              <a:t>     SHAP explains THIS drive's score, not just global feature importance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211F"/>
                </a:solidFill>
              </a:rPr>
              <a:t>▪  A genuine decision-support result</a:t>
            </a:r>
          </a:p>
          <a:p>
            <a:pPr>
              <a:spcAft>
                <a:spcPts val="1400"/>
              </a:spcAft>
            </a:pPr>
            <a:r>
              <a:rPr sz="1300" i="1">
                <a:solidFill>
                  <a:srgbClr val="555F5C"/>
                </a:solidFill>
              </a:rPr>
              <a:t>     The right cost threshold depends on your own cost structure — no universal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5C"/>
                </a:solidFill>
              </a:rPr>
              <a:t>Predicting Drive Failure — IT Capstone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55F5C"/>
                </a:solidFill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D7D6F"/>
                </a:solidFill>
              </a:rPr>
              <a:t>Real Backblaze Drive Stats, One Quarter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29487" y="155448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>
                <a:solidFill>
                  <a:srgbClr val="555F5C"/>
                </a:solidFill>
              </a:rPr>
              <a:t>DRIVE MODEL</a:t>
            </a:r>
          </a:p>
          <a:p>
            <a:pPr algn="ctr"/>
            <a:r>
              <a:rPr sz="2600" b="1">
                <a:solidFill>
                  <a:srgbClr val="16211F"/>
                </a:solidFill>
              </a:rPr>
              <a:t>ST16000NM001G</a:t>
            </a:r>
          </a:p>
          <a:p>
            <a:pPr algn="ctr"/>
            <a:r>
              <a:rPr sz="900">
                <a:solidFill>
                  <a:srgbClr val="555F5C"/>
                </a:solidFill>
              </a:rPr>
              <a:t>highest-volume model with full SMART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449927" y="155448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>
                <a:solidFill>
                  <a:srgbClr val="555F5C"/>
                </a:solidFill>
              </a:rPr>
              <a:t>QUARTER</a:t>
            </a:r>
          </a:p>
          <a:p>
            <a:pPr algn="ctr"/>
            <a:r>
              <a:rPr sz="2600" b="1">
                <a:solidFill>
                  <a:srgbClr val="16211F"/>
                </a:solidFill>
              </a:rPr>
              <a:t>2026-01</a:t>
            </a:r>
          </a:p>
          <a:p>
            <a:pPr algn="ctr"/>
            <a:r>
              <a:rPr sz="900">
                <a:solidFill>
                  <a:srgbClr val="555F5C"/>
                </a:solidFill>
              </a:rPr>
              <a:t>2026-01-01 to 2026-03-31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0367" y="155448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>
                <a:solidFill>
                  <a:srgbClr val="555F5C"/>
                </a:solidFill>
              </a:rPr>
              <a:t>REAL FAILURES</a:t>
            </a:r>
          </a:p>
          <a:p>
            <a:pPr algn="ctr"/>
            <a:r>
              <a:rPr sz="2600" b="1">
                <a:solidFill>
                  <a:srgbClr val="16211F"/>
                </a:solidFill>
              </a:rPr>
              <a:t>267</a:t>
            </a:r>
          </a:p>
          <a:p>
            <a:pPr algn="ctr"/>
            <a:r>
              <a:rPr sz="900">
                <a:solidFill>
                  <a:srgbClr val="555F5C"/>
                </a:solidFill>
              </a:rPr>
              <a:t>early-warning-positive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6211F"/>
                </a:solidFill>
              </a:rPr>
              <a:t>▪  A real vendor-reporting discovery during model selection: the highest-volume drive model reported ZERO values for 2 of the 7 SMART attributes this project relies on — a genuine WD/Toshiba-vs-Seagate reporting difference, confirmed while picking a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5C"/>
                </a:solidFill>
              </a:rPr>
              <a:t>Predicting Drive Failure — IT Capstone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55F5C"/>
                </a:solidFill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D7D6F"/>
                </a:solidFill>
              </a:rPr>
              <a:t>Classifier: RandomForest, Grouped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211F"/>
                </a:solidFill>
              </a:rPr>
              <a:t>▪  RandomForestClassifier</a:t>
            </a:r>
          </a:p>
          <a:p>
            <a:pPr>
              <a:spcAft>
                <a:spcPts val="1400"/>
              </a:spcAft>
            </a:pPr>
            <a:r>
              <a:rPr sz="1300" i="1">
                <a:solidFill>
                  <a:srgbClr val="555F5C"/>
                </a:solidFill>
              </a:rPr>
              <a:t>     300 trees, max depth 8, class_weight='balanced', on 7 SMART features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211F"/>
                </a:solidFill>
              </a:rPr>
              <a:t>▪  Split grouped by drive, not by row</a:t>
            </a:r>
          </a:p>
          <a:p>
            <a:pPr>
              <a:spcAft>
                <a:spcPts val="1400"/>
              </a:spcAft>
            </a:pPr>
            <a:r>
              <a:rPr sz="1300" i="1">
                <a:solidFill>
                  <a:srgbClr val="555F5C"/>
                </a:solidFill>
              </a:rPr>
              <a:t>     StratifiedGroupKFold on serial_number — no drive's rows appear on both sides of train/test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211F"/>
                </a:solidFill>
              </a:rPr>
              <a:t>▪  Why this matters</a:t>
            </a:r>
          </a:p>
          <a:p>
            <a:pPr>
              <a:spcAft>
                <a:spcPts val="1400"/>
              </a:spcAft>
            </a:pPr>
            <a:r>
              <a:rPr sz="1300" i="1">
                <a:solidFill>
                  <a:srgbClr val="555F5C"/>
                </a:solidFill>
              </a:rPr>
              <a:t>     A failing drive contributes several rows to the positive class; a naive row-level split let the same physical drive leak across train and test, inflating early metrics — caught and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5C"/>
                </a:solidFill>
              </a:rPr>
              <a:t>Predicting Drive Failure — IT Capstone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55F5C"/>
                </a:solidFill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D7D6F"/>
                </a:solidFill>
              </a:rPr>
              <a:t>Classifier Performance (Real Held-Out Test Fold)</a:t>
            </a:r>
          </a:p>
        </p:txBody>
      </p:sp>
      <p:sp>
        <p:nvSpPr>
          <p:cNvPr id="4" name="Rectangle 3"/>
          <p:cNvSpPr/>
          <p:nvPr/>
        </p:nvSpPr>
        <p:spPr>
          <a:xfrm>
            <a:off x="632307" y="17373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>
                <a:solidFill>
                  <a:srgbClr val="555F5C"/>
                </a:solidFill>
              </a:rPr>
              <a:t>PRECISION</a:t>
            </a:r>
          </a:p>
          <a:p>
            <a:pPr algn="ctr"/>
            <a:r>
              <a:rPr sz="2600" b="1">
                <a:solidFill>
                  <a:srgbClr val="16211F"/>
                </a:solidFill>
              </a:rPr>
              <a:t>94%</a:t>
            </a:r>
          </a:p>
          <a:p>
            <a:pPr algn="ctr"/>
            <a:r>
              <a:rPr sz="900">
                <a:solidFill>
                  <a:srgbClr val="555F5C"/>
                </a:solidFill>
              </a:rPr>
              <a:t>failure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1227" y="17373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>
                <a:solidFill>
                  <a:srgbClr val="555F5C"/>
                </a:solidFill>
              </a:rPr>
              <a:t>RECALL</a:t>
            </a:r>
          </a:p>
          <a:p>
            <a:pPr algn="ctr"/>
            <a:r>
              <a:rPr sz="2600" b="1">
                <a:solidFill>
                  <a:srgbClr val="16211F"/>
                </a:solidFill>
              </a:rPr>
              <a:t>100%</a:t>
            </a:r>
          </a:p>
          <a:p>
            <a:pPr algn="ctr"/>
            <a:r>
              <a:rPr sz="900">
                <a:solidFill>
                  <a:srgbClr val="555F5C"/>
                </a:solidFill>
              </a:rPr>
              <a:t>failure 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0147" y="17373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>
                <a:solidFill>
                  <a:srgbClr val="555F5C"/>
                </a:solidFill>
              </a:rPr>
              <a:t>F1</a:t>
            </a:r>
          </a:p>
          <a:p>
            <a:pPr algn="ctr"/>
            <a:r>
              <a:rPr sz="2600" b="1">
                <a:solidFill>
                  <a:srgbClr val="16211F"/>
                </a:solidFill>
              </a:rPr>
              <a:t>97%</a:t>
            </a:r>
          </a:p>
          <a:p>
            <a:pPr algn="ctr"/>
            <a:r>
              <a:rPr sz="900">
                <a:solidFill>
                  <a:srgbClr val="555F5C"/>
                </a:solidFill>
              </a:rPr>
              <a:t>harmonic mean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99067" y="17373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>
                <a:solidFill>
                  <a:srgbClr val="555F5C"/>
                </a:solidFill>
              </a:rPr>
              <a:t>ROC-AUC</a:t>
            </a:r>
          </a:p>
          <a:p>
            <a:pPr algn="ctr"/>
            <a:r>
              <a:rPr sz="2600" b="1">
                <a:solidFill>
                  <a:srgbClr val="16211F"/>
                </a:solidFill>
              </a:rPr>
              <a:t>0.998</a:t>
            </a:r>
          </a:p>
          <a:p>
            <a:pPr algn="ctr"/>
            <a:r>
              <a:rPr sz="900">
                <a:solidFill>
                  <a:srgbClr val="555F5C"/>
                </a:solidFill>
              </a:rPr>
              <a:t>test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6211F"/>
                </a:solidFill>
              </a:rPr>
              <a:t>▪  230 train / 77 test drives</a:t>
            </a:r>
          </a:p>
          <a:p>
            <a:pPr>
              <a:spcAft>
                <a:spcPts val="1400"/>
              </a:spcAft>
            </a:pPr>
            <a:r>
              <a:rPr sz="1200" i="1">
                <a:solidFill>
                  <a:srgbClr val="555F5C"/>
                </a:solidFill>
              </a:rPr>
              <a:t>     zero drive overlap between the two 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5C"/>
                </a:solidFill>
              </a:rPr>
              <a:t>Predicting Drive Failure — IT Capstone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55F5C"/>
                </a:solidFill>
              </a:rPr>
              <a:t>STATISTICAL 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D7D6F"/>
                </a:solidFill>
              </a:rPr>
              <a:t>Report the Range, Not Just One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211F"/>
                </a:solidFill>
              </a:rPr>
              <a:t>▪  Only ~43 real failing drives underlie every classifier metric</a:t>
            </a:r>
          </a:p>
          <a:p>
            <a:pPr>
              <a:spcAft>
                <a:spcPts val="1400"/>
              </a:spcAft>
            </a:pPr>
            <a:r>
              <a:rPr sz="1300" i="1">
                <a:solidFill>
                  <a:srgbClr val="555F5C"/>
                </a:solidFill>
              </a:rPr>
              <a:t>     genuinely few for a held-out evaluation — which fold you land in matters a lot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211F"/>
                </a:solidFill>
              </a:rPr>
              <a:t>▪  Precision stable across folds: 0.98 ± 0.02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211F"/>
                </a:solidFill>
              </a:rPr>
              <a:t>▪  Recall unstable across folds: 0.90 ± 0.16 (range ~0.62–1.00)</a:t>
            </a:r>
          </a:p>
          <a:p>
            <a:pPr>
              <a:spcAft>
                <a:spcPts val="1400"/>
              </a:spcAft>
            </a:pPr>
            <a:r>
              <a:rPr sz="1300" i="1">
                <a:solidFill>
                  <a:srgbClr val="555F5C"/>
                </a:solidFill>
              </a:rPr>
              <a:t>     depends heavily on which specific failing drives land in the test fold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211F"/>
                </a:solidFill>
              </a:rPr>
              <a:t>▪  All 4 folds evaluated and disclosed in model/metrics.json, not just the deployed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5C"/>
                </a:solidFill>
              </a:rPr>
              <a:t>Predicting Drive Failure — IT Capstone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55F5C"/>
                </a:solidFill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D7D6F"/>
                </a:solidFill>
              </a:rPr>
              <a:t>Survival Analysis: Remaining Useful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3807" y="1737360"/>
            <a:ext cx="3108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>
                <a:solidFill>
                  <a:srgbClr val="555F5C"/>
                </a:solidFill>
              </a:rPr>
              <a:t>CONCORDANCE</a:t>
            </a:r>
          </a:p>
          <a:p>
            <a:pPr algn="ctr"/>
            <a:r>
              <a:rPr sz="2600" b="1">
                <a:solidFill>
                  <a:srgbClr val="16211F"/>
                </a:solidFill>
              </a:rPr>
              <a:t>0.945</a:t>
            </a:r>
          </a:p>
          <a:p>
            <a:pPr algn="ctr"/>
            <a:r>
              <a:rPr sz="900">
                <a:solidFill>
                  <a:srgbClr val="555F5C"/>
                </a:solidFill>
              </a:rPr>
              <a:t>0.5=random, 1.0=perfect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41367" y="1737360"/>
            <a:ext cx="3108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>
                <a:solidFill>
                  <a:srgbClr val="555F5C"/>
                </a:solidFill>
              </a:rPr>
              <a:t>DRIVES MODELED</a:t>
            </a:r>
          </a:p>
          <a:p>
            <a:pPr algn="ctr"/>
            <a:r>
              <a:rPr sz="2600" b="1">
                <a:solidFill>
                  <a:srgbClr val="16211F"/>
                </a:solidFill>
              </a:rPr>
              <a:t>34,729</a:t>
            </a:r>
          </a:p>
        </p:txBody>
      </p:sp>
      <p:sp>
        <p:nvSpPr>
          <p:cNvPr id="6" name="Rectangle 5"/>
          <p:cNvSpPr/>
          <p:nvPr/>
        </p:nvSpPr>
        <p:spPr>
          <a:xfrm>
            <a:off x="7878927" y="1737360"/>
            <a:ext cx="3108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>
                <a:solidFill>
                  <a:srgbClr val="555F5C"/>
                </a:solidFill>
              </a:rPr>
              <a:t>FAILURE EVENTS</a:t>
            </a:r>
          </a:p>
          <a:p>
            <a:pPr algn="ctr"/>
            <a:r>
              <a:rPr sz="2600" b="1">
                <a:solidFill>
                  <a:srgbClr val="16211F"/>
                </a:solidFill>
              </a:rPr>
              <a:t>43</a:t>
            </a:r>
          </a:p>
          <a:p>
            <a:pPr algn="ctr"/>
            <a:r>
              <a:rPr sz="900">
                <a:solidFill>
                  <a:srgbClr val="555F5C"/>
                </a:solidFill>
              </a:rPr>
              <a:t>genuinely few — disclosed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6211F"/>
                </a:solidFill>
              </a:rPr>
              <a:t>▪  Cox Proportional Hazards model (lifelines, penalizer=0.1)</a:t>
            </a:r>
          </a:p>
          <a:p>
            <a:pPr>
              <a:spcAft>
                <a:spcPts val="1400"/>
              </a:spcAft>
            </a:pPr>
            <a:r>
              <a:rPr sz="1200" i="1">
                <a:solidFill>
                  <a:srgbClr val="555F5C"/>
                </a:solidFill>
              </a:rPr>
              <a:t>     estimates days remaining per drive, not just a risk label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6211F"/>
                </a:solidFill>
              </a:rPr>
              <a:t>▪  Kaplan-Meier baseline</a:t>
            </a:r>
          </a:p>
          <a:p>
            <a:pPr>
              <a:spcAft>
                <a:spcPts val="1400"/>
              </a:spcAft>
            </a:pPr>
            <a:r>
              <a:rPr sz="1200" i="1">
                <a:solidFill>
                  <a:srgbClr val="555F5C"/>
                </a:solidFill>
              </a:rPr>
              <a:t>     fleet-wide reference survival curve shown alongside each drive's own curve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5C"/>
                </a:solidFill>
              </a:rPr>
              <a:t>Predicting Drive Failure — IT Capstone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55F5C"/>
                </a:solidFill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D7D6F"/>
                </a:solidFill>
              </a:rPr>
              <a:t>Three Dashboards, Three Audiences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211F"/>
                </a:solidFill>
              </a:rPr>
              <a:t>▪  Fleet Overview — leadership/budget</a:t>
            </a:r>
          </a:p>
          <a:p>
            <a:pPr>
              <a:spcAft>
                <a:spcPts val="1400"/>
              </a:spcAft>
            </a:pPr>
            <a:r>
              <a:rPr sz="1500" i="1">
                <a:solidFill>
                  <a:srgbClr val="555F5C"/>
                </a:solidFill>
              </a:rPr>
              <a:t>     3D rack, event feed, live-feel replay, cost-avoidance estimate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211F"/>
                </a:solidFill>
              </a:rPr>
              <a:t>▪  Operator Lookup — technician</a:t>
            </a:r>
          </a:p>
          <a:p>
            <a:pPr>
              <a:spcAft>
                <a:spcPts val="1400"/>
              </a:spcAft>
            </a:pPr>
            <a:r>
              <a:rPr sz="1500" i="1">
                <a:solidFill>
                  <a:srgbClr val="555F5C"/>
                </a:solidFill>
              </a:rPr>
              <a:t>     per-drive SHAP explanation, not just a global importance chart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211F"/>
                </a:solidFill>
              </a:rPr>
              <a:t>▪  Optimization Lab — decision-maker</a:t>
            </a:r>
          </a:p>
          <a:p>
            <a:pPr>
              <a:spcAft>
                <a:spcPts val="1400"/>
              </a:spcAft>
            </a:pPr>
            <a:r>
              <a:rPr sz="1500" i="1">
                <a:solidFill>
                  <a:srgbClr val="555F5C"/>
                </a:solidFill>
              </a:rPr>
              <a:t>     remaining useful life + 3D cost-optimized threshold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5C"/>
                </a:solidFill>
              </a:rPr>
              <a:t>Predicting Drive Failure — IT Capstone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55F5C"/>
                </a:solidFill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D7D6F"/>
                </a:solidFill>
              </a:rPr>
              <a:t>Fleet Overview</a:t>
            </a:r>
          </a:p>
        </p:txBody>
      </p:sp>
      <p:pic>
        <p:nvPicPr>
          <p:cNvPr id="4" name="Picture 3" descr="03_fleet_overview_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371600"/>
            <a:ext cx="775411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F5C"/>
                </a:solidFill>
              </a:rPr>
              <a:t>3D rack colored by risk tier, real trend line, event feed with both elevated and critical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5C"/>
                </a:solidFill>
              </a:rPr>
              <a:t>Predicting Drive Failure — IT Capstone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55F5C"/>
                </a:solidFill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D7D6F"/>
                </a:solidFill>
              </a:rPr>
              <a:t>Operator Lookup</a:t>
            </a:r>
          </a:p>
        </p:txBody>
      </p:sp>
      <p:pic>
        <p:nvPicPr>
          <p:cNvPr id="4" name="Picture 3" descr="04_operator_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371600"/>
            <a:ext cx="775411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F5C"/>
                </a:solidFill>
              </a:rPr>
              <a:t>A real high-risk drive (79%) with its SHAP explanation — which readings actually drove this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5C"/>
                </a:solidFill>
              </a:rPr>
              <a:t>Predicting Drive Failure — IT Capstone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55F5C"/>
                </a:solidFill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D7D6F"/>
                </a:solidFill>
              </a:rPr>
              <a:t>Optimization Lab</a:t>
            </a:r>
          </a:p>
        </p:txBody>
      </p:sp>
      <p:pic>
        <p:nvPicPr>
          <p:cNvPr id="4" name="Picture 3" descr="06_optimization_lab_cost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371600"/>
            <a:ext cx="775411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F5C"/>
                </a:solidFill>
              </a:rPr>
              <a:t>3D cost surface: the optimal alert threshold moves with the organization's cost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5C"/>
                </a:solidFill>
              </a:rPr>
              <a:t>Predicting Drive Failure — IT Capstone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55F5C"/>
                </a:solidFill>
              </a:rPr>
              <a:t>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D7D6F"/>
                </a:solidFill>
              </a:rPr>
              <a:t>Two-Tier Alerting, One Layer Genuinely Unattended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211F"/>
                </a:solidFill>
              </a:rPr>
              <a:t>▪  ⚠️ Early warning</a:t>
            </a:r>
          </a:p>
          <a:p>
            <a:pPr>
              <a:spcAft>
                <a:spcPts val="1400"/>
              </a:spcAft>
            </a:pPr>
            <a:r>
              <a:rPr sz="1300" i="1">
                <a:solidFill>
                  <a:srgbClr val="555F5C"/>
                </a:solidFill>
              </a:rPr>
              <a:t>     fires the moment a drive crosses into ELEVATED risk — real lead time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211F"/>
                </a:solidFill>
              </a:rPr>
              <a:t>▪  🚨 Critical</a:t>
            </a:r>
          </a:p>
          <a:p>
            <a:pPr>
              <a:spcAft>
                <a:spcPts val="1400"/>
              </a:spcAft>
            </a:pPr>
            <a:r>
              <a:rPr sz="1300" i="1">
                <a:solidFill>
                  <a:srgbClr val="555F5C"/>
                </a:solidFill>
              </a:rPr>
              <a:t>     fires when a drive crosses into CRITICAL risk — act now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211F"/>
                </a:solidFill>
              </a:rPr>
              <a:t>▪  In-browser alert</a:t>
            </a:r>
          </a:p>
          <a:p>
            <a:pPr>
              <a:spcAft>
                <a:spcPts val="1400"/>
              </a:spcAft>
            </a:pPr>
            <a:r>
              <a:rPr sz="1300" i="1">
                <a:solidFill>
                  <a:srgbClr val="555F5C"/>
                </a:solidFill>
              </a:rPr>
              <a:t>     instant, while someone is actively using Fleet Overview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211F"/>
                </a:solidFill>
              </a:rPr>
              <a:t>▪  Scheduled GitHub Actions check</a:t>
            </a:r>
          </a:p>
          <a:p>
            <a:pPr>
              <a:spcAft>
                <a:spcPts val="1400"/>
              </a:spcAft>
            </a:pPr>
            <a:r>
              <a:rPr sz="1300" i="1">
                <a:solidFill>
                  <a:srgbClr val="555F5C"/>
                </a:solidFill>
              </a:rPr>
              <a:t>     runs hourly, independent of the app or anyone watching — free and unlimited on a public repo, the genuinely unattended piece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5C"/>
                </a:solidFill>
              </a:rPr>
              <a:t>Predicting Drive Failure — IT Capstone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55F5C"/>
                </a:solidFill>
              </a:rPr>
              <a:t>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D7D6F"/>
                </a:solidFill>
              </a:rPr>
              <a:t>Known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6211F"/>
                </a:solidFill>
              </a:rPr>
              <a:t>▪  Rare-event target (~1.36% real annual failure rate) — report precision/recall/F1, not accuracy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6211F"/>
                </a:solidFill>
              </a:rPr>
              <a:t>▪  Only ~43 real failing drives — cross-fold range reported, not a single flattering split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6211F"/>
                </a:solidFill>
              </a:rPr>
              <a:t>▪  One vendor's fleet — a demonstrated method, not a drop-in production tool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6211F"/>
                </a:solidFill>
              </a:rPr>
              <a:t>▪  “Live” is a labeled replay of real historical data, not a live sensor feed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6211F"/>
                </a:solidFill>
              </a:rPr>
              <a:t>▪  Cost-avoidance figures are adjustable planning assumptions, not sourced statistics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6211F"/>
                </a:solidFill>
              </a:rPr>
              <a:t>▪  Static, last-observed covariates in the survival model, not full time-varying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5C"/>
                </a:solidFill>
              </a:rPr>
              <a:t>Predicting Drive Failure — IT Capstone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55F5C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D7D6F"/>
                </a:solidFill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211F"/>
                </a:solidFill>
              </a:rPr>
              <a:t>▪  Validate the Cox proportional-hazards assumption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211F"/>
                </a:solidFill>
              </a:rPr>
              <a:t>▪  Calibration curve / Brier score for predicted probabilities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211F"/>
                </a:solidFill>
              </a:rPr>
              <a:t>▪  Extend GitHub Actions automation to periodic model retraining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211F"/>
                </a:solidFill>
              </a:rPr>
              <a:t>▪  Data drift detection between training and live data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211F"/>
                </a:solidFill>
              </a:rPr>
              <a:t>▪  A pytest test suite and CI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5C"/>
                </a:solidFill>
              </a:rPr>
              <a:t>Predicting Drive Failure — IT Capstone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0D7D6F"/>
                </a:solidFill>
              </a:rPr>
              <a:t>Thank You</a:t>
            </a:r>
          </a:p>
          <a:p>
            <a:pPr algn="ctr"/>
            <a:r>
              <a:rPr sz="2000">
                <a:solidFill>
                  <a:srgbClr val="555F5C"/>
                </a:solidFill>
              </a:rPr>
              <a:t>Questions?</a:t>
            </a:r>
          </a:p>
          <a:p>
            <a:pPr algn="ctr"/>
            <a:r>
              <a:rPr sz="1300">
                <a:solidFill>
                  <a:srgbClr val="16211F"/>
                </a:solidFill>
              </a:rPr>
              <a:t>
https://hdd-failure-predictor.onrender.com
https://github.com/dp2426-NAU/hdd-failure-predictor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